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17"/>
  </p:notesMasterIdLst>
  <p:handoutMasterIdLst>
    <p:handoutMasterId r:id="rId18"/>
  </p:handoutMasterIdLst>
  <p:sldIdLst>
    <p:sldId id="256" r:id="rId5"/>
    <p:sldId id="257" r:id="rId6"/>
    <p:sldId id="269" r:id="rId7"/>
    <p:sldId id="270" r:id="rId8"/>
    <p:sldId id="271" r:id="rId9"/>
    <p:sldId id="276" r:id="rId10"/>
    <p:sldId id="278" r:id="rId11"/>
    <p:sldId id="279" r:id="rId12"/>
    <p:sldId id="280" r:id="rId13"/>
    <p:sldId id="272" r:id="rId14"/>
    <p:sldId id="274" r:id="rId15"/>
    <p:sldId id="268" r:id="rId16"/>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B2E2"/>
    <a:srgbClr val="2A66AC"/>
    <a:srgbClr val="75A4DD"/>
    <a:srgbClr val="2E6CB8"/>
    <a:srgbClr val="2A65AC"/>
    <a:srgbClr val="255997"/>
    <a:srgbClr val="3379CD"/>
    <a:srgbClr val="558ED5"/>
    <a:srgbClr val="78A6DE"/>
    <a:srgbClr val="9DBE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1594" y="43"/>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F607C9A-EDB5-4C0A-BCFE-81AAF6133E68}"/>
              </a:ext>
            </a:extLst>
          </p:cNvPr>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4F00B0C-2831-4624-A5D3-43F42D30BA74}"/>
              </a:ext>
            </a:extLst>
          </p:cNvPr>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pPr/>
              <a:t>5/7/2026</a:t>
            </a:fld>
            <a:endParaRPr lang="en-US"/>
          </a:p>
        </p:txBody>
      </p:sp>
      <p:sp>
        <p:nvSpPr>
          <p:cNvPr id="4" name="Footer Placeholder 3">
            <a:extLst>
              <a:ext uri="{FF2B5EF4-FFF2-40B4-BE49-F238E27FC236}">
                <a16:creationId xmlns:a16="http://schemas.microsoft.com/office/drawing/2014/main" id="{B334ABA9-0C2F-480A-B554-A457296C39B5}"/>
              </a:ext>
            </a:extLst>
          </p:cNvPr>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5" name="Slide Number Placeholder 4">
            <a:extLst>
              <a:ext uri="{FF2B5EF4-FFF2-40B4-BE49-F238E27FC236}">
                <a16:creationId xmlns:a16="http://schemas.microsoft.com/office/drawing/2014/main" id="{46F3BA01-5457-4975-8BF5-D0EAD49D534B}"/>
              </a:ext>
            </a:extLst>
          </p:cNvPr>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pPr/>
              <a:t>‹#›</a:t>
            </a:fld>
            <a:endParaRPr lang="en-US"/>
          </a:p>
        </p:txBody>
      </p:sp>
    </p:spTree>
    <p:extLst>
      <p:ext uri="{BB962C8B-B14F-4D97-AF65-F5344CB8AC3E}">
        <p14:creationId xmlns:p14="http://schemas.microsoft.com/office/powerpoint/2010/main" val="412300227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888BC1CF-45D5-4DEE-AAB8-8C5341844FC9}" type="datetimeFigureOut">
              <a:rPr lang="en-US" smtClean="0"/>
              <a:pPr/>
              <a:t>5/7/2026</a:t>
            </a:fld>
            <a:endParaRPr lang="en-US"/>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5A7523A-12D4-4E0F-9409-B3F845B48333}" type="slidenum">
              <a:rPr lang="en-US" smtClean="0"/>
              <a:pPr/>
              <a:t>‹#›</a:t>
            </a:fld>
            <a:endParaRPr lang="en-US"/>
          </a:p>
        </p:txBody>
      </p:sp>
    </p:spTree>
    <p:extLst>
      <p:ext uri="{BB962C8B-B14F-4D97-AF65-F5344CB8AC3E}">
        <p14:creationId xmlns:p14="http://schemas.microsoft.com/office/powerpoint/2010/main" val="345812222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A7523A-12D4-4E0F-9409-B3F845B48333}" type="slidenum">
              <a:rPr lang="en-US" smtClean="0"/>
              <a:pPr/>
              <a:t>1</a:t>
            </a:fld>
            <a:endParaRPr lang="en-US"/>
          </a:p>
        </p:txBody>
      </p:sp>
      <p:sp>
        <p:nvSpPr>
          <p:cNvPr id="5" name="Footer Placeholder 4">
            <a:extLst>
              <a:ext uri="{FF2B5EF4-FFF2-40B4-BE49-F238E27FC236}">
                <a16:creationId xmlns:a16="http://schemas.microsoft.com/office/drawing/2014/main" id="{A599BB95-9755-4BC6-8051-C2B8CF54F2A1}"/>
              </a:ext>
            </a:extLst>
          </p:cNvPr>
          <p:cNvSpPr>
            <a:spLocks noGrp="1"/>
          </p:cNvSpPr>
          <p:nvPr>
            <p:ph type="ftr" sz="quarter" idx="4"/>
          </p:nvPr>
        </p:nvSpPr>
        <p:spPr/>
        <p:txBody>
          <a:bodyPr/>
          <a:lstStyle/>
          <a:p>
            <a:r>
              <a:rPr lang="en-US"/>
              <a:t>Name of the faculty [Group: G00] [Sem:2nd]</a:t>
            </a:r>
          </a:p>
        </p:txBody>
      </p:sp>
    </p:spTree>
    <p:extLst>
      <p:ext uri="{BB962C8B-B14F-4D97-AF65-F5344CB8AC3E}">
        <p14:creationId xmlns:p14="http://schemas.microsoft.com/office/powerpoint/2010/main" val="42548747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GB" sz="3200" b="0" strike="noStrike" spc="-1" dirty="0">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3"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5"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6"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 name="PlaceHolder 1"/>
          <p:cNvSpPr>
            <a:spLocks noGrp="1"/>
          </p:cNvSpPr>
          <p:nvPr>
            <p:ph type="subTitle"/>
          </p:nvPr>
        </p:nvSpPr>
        <p:spPr>
          <a:xfrm>
            <a:off x="0" y="0"/>
            <a:ext cx="5486040" cy="4238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1"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2"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4"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6"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8"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9"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0"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2"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3"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6"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7"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8"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50"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1"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3"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4"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5"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a:lstStyle/>
          <a:p>
            <a:endParaRPr lang="en-US"/>
          </a:p>
        </p:txBody>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txBody>
          <a:bodyPr/>
          <a:lstStyle/>
          <a:p>
            <a:endParaRPr lang="en-US"/>
          </a:p>
        </p:txBody>
      </p:sp>
      <p:pic>
        <p:nvPicPr>
          <p:cNvPr id="2" name="Picture 10" descr="LOGO.gif"/>
          <p:cNvPicPr/>
          <p:nvPr/>
        </p:nvPicPr>
        <p:blipFill>
          <a:blip r:embed="rId14"/>
          <a:srcRect b="10718"/>
          <a:stretch/>
        </p:blipFill>
        <p:spPr>
          <a:xfrm>
            <a:off x="6553080" y="228600"/>
            <a:ext cx="2057040" cy="634680"/>
          </a:xfrm>
          <a:prstGeom prst="rect">
            <a:avLst/>
          </a:prstGeom>
          <a:ln w="9360">
            <a:noFill/>
          </a:ln>
        </p:spPr>
      </p:pic>
      <p:pic>
        <p:nvPicPr>
          <p:cNvPr id="3" name="Picture 10" descr="LOGO.gif"/>
          <p:cNvPicPr/>
          <p:nvPr/>
        </p:nvPicPr>
        <p:blipFill>
          <a:blip r:embed="rId14"/>
          <a:srcRect b="10718"/>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a:lstStyle/>
            <a:p>
              <a:endParaRPr lang="en-US"/>
            </a:p>
          </p:txBody>
        </p:sp>
        <p:pic>
          <p:nvPicPr>
            <p:cNvPr id="6" name="Picture 9" descr="LOGO.gif"/>
            <p:cNvPicPr/>
            <p:nvPr/>
          </p:nvPicPr>
          <p:blipFill>
            <a:blip r:embed="rId14"/>
            <a:srcRect b="10718"/>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en-US"/>
            </a:p>
          </p:txBody>
        </p:sp>
      </p:grpSp>
      <p:pic>
        <p:nvPicPr>
          <p:cNvPr id="8" name="Picture 15" descr="logo.jpg"/>
          <p:cNvPicPr/>
          <p:nvPr/>
        </p:nvPicPr>
        <p:blipFill>
          <a:blip r:embed="rId15"/>
          <a:stretch/>
        </p:blipFill>
        <p:spPr>
          <a:xfrm>
            <a:off x="6553080" y="228600"/>
            <a:ext cx="1920600" cy="609120"/>
          </a:xfrm>
          <a:prstGeom prst="rect">
            <a:avLst/>
          </a:prstGeom>
          <a:ln w="9360">
            <a:noFill/>
          </a:ln>
        </p:spPr>
      </p:pic>
      <p:pic>
        <p:nvPicPr>
          <p:cNvPr id="9" name="Picture 10" descr="LOGO.gif"/>
          <p:cNvPicPr/>
          <p:nvPr/>
        </p:nvPicPr>
        <p:blipFill>
          <a:blip r:embed="rId14"/>
          <a:srcRect b="10718"/>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a:lstStyle/>
            <a:p>
              <a:endParaRPr lang="en-US"/>
            </a:p>
          </p:txBody>
        </p:sp>
        <p:pic>
          <p:nvPicPr>
            <p:cNvPr id="12" name="Picture 9" descr="LOGO.gif"/>
            <p:cNvPicPr/>
            <p:nvPr/>
          </p:nvPicPr>
          <p:blipFill>
            <a:blip r:embed="rId14"/>
            <a:srcRect b="10718"/>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en-US"/>
            </a:p>
          </p:txBody>
        </p:sp>
      </p:grpSp>
      <p:pic>
        <p:nvPicPr>
          <p:cNvPr id="14" name="Picture 15" descr="logo.jpg"/>
          <p:cNvPicPr/>
          <p:nvPr/>
        </p:nvPicPr>
        <p:blipFill>
          <a:blip r:embed="rId15"/>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dirty="0">
                <a:solidFill>
                  <a:srgbClr val="000000"/>
                </a:solidFill>
                <a:latin typeface="Calibri"/>
                <a:ea typeface="MS PGothic"/>
              </a:rPr>
              <a:t>Click to edit Master title style</a:t>
            </a:r>
            <a:endParaRPr lang="en-US" sz="3000" b="0" strike="noStrike" spc="-1" dirty="0">
              <a:solidFill>
                <a:srgbClr val="000000"/>
              </a:solidFill>
              <a:latin typeface="Arial"/>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en-US" sz="3200" b="0" strike="noStrike" spc="-1" dirty="0">
                <a:solidFill>
                  <a:srgbClr val="000000"/>
                </a:solidFill>
                <a:latin typeface="Calibri"/>
                <a:ea typeface="MS PGothic"/>
              </a:rPr>
              <a:t>Click to edit Master text styles</a:t>
            </a:r>
            <a:endParaRPr lang="en-US" sz="3200" b="0" strike="noStrike" spc="-1" dirty="0">
              <a:solidFill>
                <a:srgbClr val="000000"/>
              </a:solidFill>
              <a:latin typeface="Calibri"/>
            </a:endParaRPr>
          </a:p>
          <a:p>
            <a:pPr marL="743040" lvl="1" indent="-285480">
              <a:lnSpc>
                <a:spcPct val="100000"/>
              </a:lnSpc>
              <a:spcBef>
                <a:spcPts val="561"/>
              </a:spcBef>
              <a:buClr>
                <a:srgbClr val="000000"/>
              </a:buClr>
              <a:buFont typeface="Arial"/>
              <a:buChar char="–"/>
            </a:pPr>
            <a:r>
              <a:rPr lang="en-US" sz="2800" b="0" strike="noStrike" spc="-1" dirty="0">
                <a:solidFill>
                  <a:srgbClr val="000000"/>
                </a:solidFill>
                <a:latin typeface="Calibri"/>
                <a:ea typeface="MS PGothic"/>
              </a:rPr>
              <a:t>Second level</a:t>
            </a:r>
            <a:endParaRPr lang="en-US" sz="2800" b="0" strike="noStrike" spc="-1" dirty="0">
              <a:solidFill>
                <a:srgbClr val="000000"/>
              </a:solidFill>
              <a:latin typeface="Calibri"/>
            </a:endParaRPr>
          </a:p>
          <a:p>
            <a:pPr marL="1143000" lvl="2" indent="-228240">
              <a:lnSpc>
                <a:spcPct val="100000"/>
              </a:lnSpc>
              <a:spcBef>
                <a:spcPts val="479"/>
              </a:spcBef>
              <a:buClr>
                <a:srgbClr val="000000"/>
              </a:buClr>
              <a:buFont typeface="Arial"/>
              <a:buChar char="•"/>
            </a:pPr>
            <a:r>
              <a:rPr lang="en-US" sz="2400" b="0" strike="noStrike" spc="-1" dirty="0">
                <a:solidFill>
                  <a:srgbClr val="000000"/>
                </a:solidFill>
                <a:latin typeface="Calibri"/>
                <a:ea typeface="MS PGothic"/>
              </a:rPr>
              <a:t>Third level</a:t>
            </a:r>
            <a:endParaRPr lang="en-US" sz="2400" b="0" strike="noStrike" spc="-1" dirty="0">
              <a:solidFill>
                <a:srgbClr val="000000"/>
              </a:solidFill>
              <a:latin typeface="Calibri"/>
            </a:endParaRPr>
          </a:p>
          <a:p>
            <a:pPr marL="1600200" lvl="3"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Fourth level</a:t>
            </a:r>
            <a:endParaRPr lang="en-US" sz="2000" b="0" strike="noStrike" spc="-1" dirty="0">
              <a:solidFill>
                <a:srgbClr val="000000"/>
              </a:solidFill>
              <a:latin typeface="Calibri"/>
            </a:endParaRPr>
          </a:p>
          <a:p>
            <a:pPr marL="2057400" lvl="4"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Fifth level</a:t>
            </a:r>
            <a:endParaRPr lang="en-US" sz="2000" b="0" strike="noStrike" spc="-1" dirty="0">
              <a:solidFill>
                <a:srgbClr val="000000"/>
              </a:solidFill>
              <a:latin typeface="Calibri"/>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endParaRPr lang="en-GB" sz="1200" b="0" strike="noStrike" spc="-1">
              <a:latin typeface="Times New Roman"/>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p>
            <a:r>
              <a:rPr lang="en-GB" sz="2400" b="0" strike="noStrike" spc="-1">
                <a:latin typeface="Times New Roman"/>
              </a:rPr>
              <a:t>Name</a:t>
            </a: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1CFDC92E-FF5D-4613-8499-B15BC16E50D9}" type="slidenum">
              <a:rPr lang="en-US" sz="1200" b="0" strike="noStrike" spc="-1">
                <a:solidFill>
                  <a:srgbClr val="898989"/>
                </a:solidFill>
                <a:latin typeface="Calibri"/>
                <a:ea typeface="MS PGothic"/>
              </a:rPr>
              <a:pPr algn="r">
                <a:lnSpc>
                  <a:spcPct val="100000"/>
                </a:lnSpc>
              </a:pPr>
              <a:t>‹#›</a:t>
            </a:fld>
            <a:endParaRPr lang="en-GB"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1"/>
          <p:cNvSpPr txBox="1"/>
          <p:nvPr/>
        </p:nvSpPr>
        <p:spPr>
          <a:xfrm>
            <a:off x="0" y="840631"/>
            <a:ext cx="9144000" cy="5710998"/>
          </a:xfrm>
          <a:prstGeom prst="rect">
            <a:avLst/>
          </a:prstGeom>
          <a:noFill/>
          <a:ln w="9360">
            <a:noFill/>
          </a:ln>
        </p:spPr>
        <p:txBody>
          <a:bodyPr>
            <a:noAutofit/>
          </a:bodyPr>
          <a:lstStyle/>
          <a:p>
            <a:pPr algn="ctr">
              <a:lnSpc>
                <a:spcPct val="100000"/>
              </a:lnSpc>
              <a:spcBef>
                <a:spcPts val="400"/>
              </a:spcBef>
            </a:pPr>
            <a:r>
              <a:rPr lang="en-IN" b="1" dirty="0">
                <a:latin typeface="Times New Roman" panose="02020603050405020304" pitchFamily="18" charset="0"/>
                <a:ea typeface="Calibri" panose="020F0502020204030204" pitchFamily="34" charset="0"/>
                <a:cs typeface="Times New Roman" panose="02020603050405020304" pitchFamily="18" charset="0"/>
              </a:rPr>
              <a:t>Project Presentation of Industry Oriented Hands on Experience (22CS422)</a:t>
            </a:r>
          </a:p>
          <a:p>
            <a:pPr algn="ctr">
              <a:lnSpc>
                <a:spcPct val="100000"/>
              </a:lnSpc>
              <a:spcBef>
                <a:spcPts val="400"/>
              </a:spcBef>
            </a:pPr>
            <a:r>
              <a:rPr lang="en-US" sz="2000" spc="-1" dirty="0">
                <a:latin typeface="Times New Roman" panose="02020603050405020304" pitchFamily="18" charset="0"/>
                <a:ea typeface="Calibri" panose="020F0502020204030204" pitchFamily="34" charset="0"/>
                <a:cs typeface="Times New Roman" panose="02020603050405020304" pitchFamily="18" charset="0"/>
              </a:rPr>
              <a:t>On</a:t>
            </a:r>
          </a:p>
          <a:p>
            <a:pPr algn="ctr">
              <a:lnSpc>
                <a:spcPct val="100000"/>
              </a:lnSpc>
              <a:spcBef>
                <a:spcPts val="400"/>
              </a:spcBef>
            </a:pPr>
            <a:r>
              <a:rPr lang="en-US" sz="4000" i="1" spc="-1" dirty="0">
                <a:latin typeface="Times New Roman" panose="02020603050405020304" pitchFamily="18" charset="0"/>
                <a:ea typeface="Calibri" panose="020F0502020204030204" pitchFamily="34" charset="0"/>
                <a:cs typeface="Times New Roman" panose="02020603050405020304" pitchFamily="18" charset="0"/>
              </a:rPr>
              <a:t>Chirp – A Real-Time Social Media Interaction Platform</a:t>
            </a:r>
            <a:endParaRPr lang="en-US" sz="2000" i="1" spc="-1"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ts val="400"/>
              </a:spcBef>
            </a:pPr>
            <a:b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br>
            <a:r>
              <a:rPr lang="en-IN" dirty="0"/>
              <a:t>Rakshit Kamboj  2210992134</a:t>
            </a:r>
          </a:p>
          <a:p>
            <a:pPr algn="ctr">
              <a:lnSpc>
                <a:spcPct val="100000"/>
              </a:lnSpc>
              <a:spcBef>
                <a:spcPts val="400"/>
              </a:spcBef>
            </a:pPr>
            <a:r>
              <a:rPr lang="en-IN" dirty="0"/>
              <a:t>Rhythm</a:t>
            </a:r>
            <a:r>
              <a:rPr lang="en-IN" b="1" dirty="0"/>
              <a:t> </a:t>
            </a:r>
            <a:r>
              <a:rPr lang="en-IN" dirty="0"/>
              <a:t>Goyal    2210992147</a:t>
            </a:r>
          </a:p>
          <a:p>
            <a:pPr algn="ctr">
              <a:lnSpc>
                <a:spcPct val="100000"/>
              </a:lnSpc>
              <a:spcBef>
                <a:spcPts val="400"/>
              </a:spcBef>
            </a:pPr>
            <a:r>
              <a:rPr lang="en-IN" dirty="0"/>
              <a:t>Rishabhdev        2210992156</a:t>
            </a:r>
          </a:p>
          <a:p>
            <a:pPr algn="ctr">
              <a:lnSpc>
                <a:spcPct val="100000"/>
              </a:lnSpc>
              <a:spcBef>
                <a:spcPts val="400"/>
              </a:spcBef>
            </a:pPr>
            <a:r>
              <a:rPr lang="en-IN" dirty="0"/>
              <a:t> Ayush                 2210991418</a:t>
            </a:r>
            <a:endParaRPr lang="en-US" sz="2000"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Supervised By</a:t>
            </a:r>
          </a:p>
          <a:p>
            <a:pPr algn="ctr">
              <a:lnSpc>
                <a:spcPct val="100000"/>
              </a:lnSpc>
              <a:spcBef>
                <a:spcPts val="400"/>
              </a:spcBef>
            </a:pPr>
            <a:r>
              <a:rPr lang="en-IN" dirty="0"/>
              <a:t>Dr. Shikha Tuteja</a:t>
            </a:r>
            <a:r>
              <a:rPr lang="en-IN" b="1" dirty="0"/>
              <a:t> </a:t>
            </a: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400" spc="-1" dirty="0">
                <a:latin typeface="Times New Roman" panose="02020603050405020304" pitchFamily="18" charset="0"/>
                <a:ea typeface="MS PGothic"/>
                <a:cs typeface="Times New Roman" panose="02020603050405020304" pitchFamily="18" charset="0"/>
              </a:rPr>
              <a:t>Department of </a:t>
            </a:r>
            <a:r>
              <a:rPr lang="en-US" sz="2400" b="0" strike="noStrike" spc="-1" dirty="0">
                <a:latin typeface="Times New Roman" panose="02020603050405020304" pitchFamily="18" charset="0"/>
                <a:ea typeface="MS PGothic"/>
                <a:cs typeface="Times New Roman" panose="02020603050405020304" pitchFamily="18" charset="0"/>
              </a:rPr>
              <a:t>Computer Science and Engineering, </a:t>
            </a:r>
          </a:p>
          <a:p>
            <a:pPr algn="ctr">
              <a:lnSpc>
                <a:spcPct val="100000"/>
              </a:lnSpc>
              <a:spcBef>
                <a:spcPts val="400"/>
              </a:spcBef>
            </a:pPr>
            <a:r>
              <a:rPr lang="en-US" sz="2400" b="0" strike="noStrike" spc="-1" dirty="0">
                <a:latin typeface="Times New Roman" panose="02020603050405020304" pitchFamily="18" charset="0"/>
                <a:ea typeface="MS PGothic"/>
                <a:cs typeface="Times New Roman" panose="02020603050405020304" pitchFamily="18" charset="0"/>
              </a:rPr>
              <a:t>Chitkara University, Punjab</a:t>
            </a:r>
          </a:p>
          <a:p>
            <a:pPr algn="ctr">
              <a:lnSpc>
                <a:spcPct val="150000"/>
              </a:lnSpc>
              <a:spcBef>
                <a:spcPts val="400"/>
              </a:spcBef>
            </a:pPr>
            <a:endParaRPr lang="en-US" sz="2000" b="0" strike="noStrike" spc="-1" dirty="0">
              <a:solidFill>
                <a:srgbClr val="000000"/>
              </a:solidFill>
              <a:latin typeface="Calibri"/>
            </a:endParaRPr>
          </a:p>
          <a:p>
            <a:pPr>
              <a:lnSpc>
                <a:spcPct val="100000"/>
              </a:lnSpc>
              <a:spcBef>
                <a:spcPts val="641"/>
              </a:spcBef>
            </a:pPr>
            <a:endParaRPr lang="en-US" sz="2000" b="0" strike="noStrike" spc="-1" dirty="0">
              <a:solidFill>
                <a:srgbClr val="000000"/>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0" y="0"/>
            <a:ext cx="6019560" cy="837720"/>
          </a:xfrm>
          <a:prstGeom prst="rect">
            <a:avLst/>
          </a:prstGeom>
          <a:noFill/>
          <a:ln w="9360">
            <a:noFill/>
          </a:ln>
        </p:spPr>
        <p:txBody>
          <a:bodyPr anchor="ctr">
            <a:noAutofit/>
          </a:bodyPr>
          <a:lstStyle/>
          <a:p>
            <a:pPr>
              <a:lnSpc>
                <a:spcPct val="100000"/>
              </a:lnSpc>
            </a:pPr>
            <a:r>
              <a:rPr lang="en" sz="3200" dirty="0">
                <a:latin typeface="Times New Roman" panose="02020603050405020304" pitchFamily="18" charset="0"/>
                <a:cs typeface="Times New Roman" panose="02020603050405020304" pitchFamily="18" charset="0"/>
              </a:rPr>
              <a:t> Introduction</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5" name="TextShape 2"/>
          <p:cNvSpPr txBox="1"/>
          <p:nvPr/>
        </p:nvSpPr>
        <p:spPr>
          <a:xfrm>
            <a:off x="0" y="1517949"/>
            <a:ext cx="8838720" cy="4838571"/>
          </a:xfrm>
          <a:prstGeom prst="rect">
            <a:avLst/>
          </a:prstGeom>
          <a:noFill/>
          <a:ln w="9360">
            <a:noFill/>
          </a:ln>
        </p:spPr>
        <p:txBody>
          <a:bodyPr>
            <a:noAutofit/>
          </a:bodyPr>
          <a:lstStyle/>
          <a:p>
            <a:pPr marL="457200" lvl="0" indent="-317500">
              <a:lnSpc>
                <a:spcPct val="200000"/>
              </a:lnSpc>
              <a:spcBef>
                <a:spcPct val="0"/>
              </a:spcBef>
              <a:buClr>
                <a:srgbClr val="000000"/>
              </a:buClr>
              <a:buSzPts val="1400"/>
              <a:buChar char="●"/>
            </a:pPr>
            <a:r>
              <a:rPr lang="en-GB"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Real-time chat application for flawless communication.</a:t>
            </a:r>
          </a:p>
          <a:p>
            <a:pPr marL="457200" lvl="0" indent="-317500">
              <a:lnSpc>
                <a:spcPct val="200000"/>
              </a:lnSpc>
              <a:spcBef>
                <a:spcPct val="0"/>
              </a:spcBef>
              <a:buClr>
                <a:srgbClr val="000000"/>
              </a:buClr>
              <a:buSzPts val="1400"/>
              <a:buChar char="●"/>
            </a:pPr>
            <a:r>
              <a:rPr lang="en-GB"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Supports instant messaging and media uploading.</a:t>
            </a:r>
          </a:p>
          <a:p>
            <a:pPr marL="457200" lvl="0" indent="-317500">
              <a:lnSpc>
                <a:spcPct val="200000"/>
              </a:lnSpc>
              <a:spcBef>
                <a:spcPct val="0"/>
              </a:spcBef>
              <a:buClr>
                <a:srgbClr val="000000"/>
              </a:buClr>
              <a:buSzPts val="1400"/>
              <a:buChar char="●"/>
            </a:pPr>
            <a:r>
              <a:rPr lang="en-GB"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Real-time notifications for receiving any new message.</a:t>
            </a:r>
          </a:p>
          <a:p>
            <a:pPr marL="457200" lvl="0" indent="-317500">
              <a:lnSpc>
                <a:spcPct val="200000"/>
              </a:lnSpc>
              <a:spcBef>
                <a:spcPct val="0"/>
              </a:spcBef>
              <a:buClr>
                <a:srgbClr val="000000"/>
              </a:buClr>
              <a:buSzPts val="1400"/>
              <a:buChar char="●"/>
            </a:pPr>
            <a:r>
              <a:rPr lang="en-GB"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Can be used for personal or professional communications.</a:t>
            </a:r>
          </a:p>
          <a:p>
            <a:pPr marL="457200" lvl="0" indent="-317500">
              <a:lnSpc>
                <a:spcPct val="200000"/>
              </a:lnSpc>
              <a:spcBef>
                <a:spcPct val="0"/>
              </a:spcBef>
              <a:buClr>
                <a:srgbClr val="000000"/>
              </a:buClr>
              <a:buSzPts val="1400"/>
              <a:buChar char="●"/>
            </a:pPr>
            <a:r>
              <a:rPr lang="en-GB"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Emphasizes on safety, speed, and usability.</a:t>
            </a:r>
          </a:p>
          <a:p>
            <a:pPr marL="457200" lvl="0" indent="-317500">
              <a:lnSpc>
                <a:spcPct val="200000"/>
              </a:lnSpc>
              <a:spcBef>
                <a:spcPct val="0"/>
              </a:spcBef>
              <a:buClr>
                <a:srgbClr val="000000"/>
              </a:buClr>
              <a:buSzPts val="1400"/>
              <a:buChar char="●"/>
            </a:pPr>
            <a:r>
              <a:rPr lang="en-GB"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Has a friendly user interface for ease of use.</a:t>
            </a:r>
            <a:endPar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27D81-CB53-4382-84CD-93D7F7F51195}"/>
              </a:ext>
            </a:extLst>
          </p:cNvPr>
          <p:cNvSpPr>
            <a:spLocks noGrp="1"/>
          </p:cNvSpPr>
          <p:nvPr>
            <p:ph type="title"/>
          </p:nvPr>
        </p:nvSpPr>
        <p:spPr>
          <a:xfrm>
            <a:off x="0" y="0"/>
            <a:ext cx="5486040" cy="833120"/>
          </a:xfrm>
        </p:spPr>
        <p:txBody>
          <a:bodyPr/>
          <a:lstStyle/>
          <a:p>
            <a:r>
              <a:rPr lang="en-US" altLang="en-US" sz="3200" dirty="0">
                <a:latin typeface="Times New Roman" panose="02020603050405020304" pitchFamily="18" charset="0"/>
                <a:ea typeface="Times Roman"/>
                <a:cs typeface="Times New Roman" panose="02020603050405020304" pitchFamily="18" charset="0"/>
                <a:sym typeface="Times Roman"/>
              </a:rPr>
              <a:t>  Problem Statement</a:t>
            </a:r>
            <a:endParaRPr lang="en-US" sz="32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90EFDC6A-4530-44DD-8BA5-A0003CC99158}"/>
              </a:ext>
            </a:extLst>
          </p:cNvPr>
          <p:cNvSpPr>
            <a:spLocks noGrp="1"/>
          </p:cNvSpPr>
          <p:nvPr>
            <p:ph type="subTitle"/>
          </p:nvPr>
        </p:nvSpPr>
        <p:spPr>
          <a:xfrm>
            <a:off x="240383" y="1368850"/>
            <a:ext cx="8229240" cy="3977280"/>
          </a:xfrm>
        </p:spPr>
        <p:txBody>
          <a:bodyPr/>
          <a:lstStyle/>
          <a:p>
            <a:pPr marL="457200" indent="-317500">
              <a:lnSpc>
                <a:spcPct val="100000"/>
              </a:lnSpc>
              <a:buClr>
                <a:srgbClr val="000000"/>
              </a:buClr>
              <a:buSzPts val="1400"/>
              <a:buChar char="●"/>
            </a:pPr>
            <a:r>
              <a:rPr lang="en-GB"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Delayed messaging: Slow message delivery can cause inefficiencies when there is an urgent need for communication.</a:t>
            </a:r>
          </a:p>
          <a:p>
            <a:pPr marL="457200" indent="-317500">
              <a:lnSpc>
                <a:spcPct val="100000"/>
              </a:lnSpc>
              <a:buClr>
                <a:srgbClr val="000000"/>
              </a:buClr>
              <a:buSzPts val="1400"/>
              <a:buChar char="●"/>
            </a:pPr>
            <a:endParaRPr lang="en-GB"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a:p>
            <a:pPr marL="457200" indent="-317500">
              <a:lnSpc>
                <a:spcPct val="100000"/>
              </a:lnSpc>
              <a:buClr>
                <a:srgbClr val="000000"/>
              </a:buClr>
              <a:buSzPts val="1400"/>
              <a:buChar char="●"/>
            </a:pPr>
            <a:r>
              <a:rPr lang="en-GB"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Complexity in interfaces: Some applications are too complex, thus hindering efficient communication.</a:t>
            </a:r>
          </a:p>
          <a:p>
            <a:pPr marL="457200" indent="-317500">
              <a:lnSpc>
                <a:spcPct val="100000"/>
              </a:lnSpc>
              <a:buClr>
                <a:srgbClr val="000000"/>
              </a:buClr>
              <a:buSzPts val="1400"/>
              <a:buChar char="●"/>
            </a:pPr>
            <a:endParaRPr lang="en-GB"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a:p>
            <a:pPr marL="457200" indent="-317500">
              <a:lnSpc>
                <a:spcPct val="100000"/>
              </a:lnSpc>
              <a:buClr>
                <a:srgbClr val="000000"/>
              </a:buClr>
              <a:buSzPts val="1400"/>
              <a:buChar char="●"/>
            </a:pPr>
            <a:r>
              <a:rPr lang="en-GB"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Cross-platform compatibility: Most chatting applications do not support cross-platform compatibility, which can make communication cumbersome across various devices and platforms (web and mobile).</a:t>
            </a:r>
          </a:p>
          <a:p>
            <a:pPr marL="457200" indent="-317500">
              <a:lnSpc>
                <a:spcPct val="100000"/>
              </a:lnSpc>
              <a:buClr>
                <a:srgbClr val="000000"/>
              </a:buClr>
              <a:buSzPts val="1400"/>
              <a:buChar char="●"/>
            </a:pPr>
            <a:endParaRPr lang="en-GB"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a:p>
            <a:pPr marL="457200" indent="-317500">
              <a:lnSpc>
                <a:spcPct val="100000"/>
              </a:lnSpc>
              <a:buClr>
                <a:srgbClr val="000000"/>
              </a:buClr>
              <a:buSzPts val="1400"/>
              <a:buChar char="●"/>
            </a:pPr>
            <a:r>
              <a:rPr lang="en-GB"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Group management challenges: Most applications do not incorporate proper group management capabilities.</a:t>
            </a:r>
            <a:endPar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2921329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E2AD3-5303-4C55-A787-F1B80758520A}"/>
              </a:ext>
            </a:extLst>
          </p:cNvPr>
          <p:cNvSpPr>
            <a:spLocks noGrp="1"/>
          </p:cNvSpPr>
          <p:nvPr>
            <p:ph type="title"/>
          </p:nvPr>
        </p:nvSpPr>
        <p:spPr/>
        <p:txBody>
          <a:bodyPr/>
          <a:lstStyle/>
          <a:p>
            <a:r>
              <a:rPr lang="en-US" sz="3200" dirty="0">
                <a:latin typeface="Times New Roman" panose="02020603050405020304" pitchFamily="18" charset="0"/>
                <a:cs typeface="Times New Roman" panose="02020603050405020304" pitchFamily="18" charset="0"/>
                <a:sym typeface="Calibri"/>
              </a:rPr>
              <a:t>  Technologies Used</a:t>
            </a:r>
            <a:endParaRPr lang="en-US" sz="32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F881D1C6-B4E5-4CB1-B659-421227DAE554}"/>
              </a:ext>
            </a:extLst>
          </p:cNvPr>
          <p:cNvSpPr>
            <a:spLocks noGrp="1"/>
          </p:cNvSpPr>
          <p:nvPr>
            <p:ph type="subTitle"/>
          </p:nvPr>
        </p:nvSpPr>
        <p:spPr>
          <a:xfrm>
            <a:off x="294640" y="914040"/>
            <a:ext cx="8391800" cy="5653045"/>
          </a:xfrm>
        </p:spPr>
        <p:txBody>
          <a:bodyPr/>
          <a:lstStyle/>
          <a:p>
            <a:r>
              <a:rPr lang="en-GB" sz="2000" b="1" dirty="0">
                <a:latin typeface="Times New Roman" panose="02020603050405020304" pitchFamily="18" charset="0"/>
                <a:cs typeface="Times New Roman" panose="02020603050405020304" pitchFamily="18" charset="0"/>
              </a:rPr>
              <a:t>Frontend:</a:t>
            </a:r>
          </a:p>
          <a:p>
            <a:pPr lvl="1"/>
            <a:r>
              <a:rPr lang="en-GB" sz="2000" dirty="0">
                <a:latin typeface="Times New Roman" panose="02020603050405020304" pitchFamily="18" charset="0"/>
                <a:cs typeface="Times New Roman" panose="02020603050405020304" pitchFamily="18" charset="0"/>
              </a:rPr>
              <a:t>HTML, CSS, JavaScript: Basic elements to build the framework of websites.</a:t>
            </a:r>
          </a:p>
          <a:p>
            <a:pPr lvl="1"/>
            <a:r>
              <a:rPr lang="en-GB" sz="2000" dirty="0">
                <a:latin typeface="Times New Roman" panose="02020603050405020304" pitchFamily="18" charset="0"/>
                <a:cs typeface="Times New Roman" panose="02020603050405020304" pitchFamily="18" charset="0"/>
              </a:rPr>
              <a:t>React.js: Framework used to develop dynamic and interactive frontends with the help of component-based approach.</a:t>
            </a:r>
          </a:p>
          <a:p>
            <a:pPr lvl="1"/>
            <a:endParaRPr lang="en-GB" sz="2000" dirty="0">
              <a:latin typeface="Times New Roman" panose="02020603050405020304" pitchFamily="18" charset="0"/>
              <a:cs typeface="Times New Roman" panose="02020603050405020304" pitchFamily="18" charset="0"/>
            </a:endParaRPr>
          </a:p>
          <a:p>
            <a:r>
              <a:rPr lang="en-GB" sz="2000" b="1" dirty="0">
                <a:latin typeface="Times New Roman" panose="02020603050405020304" pitchFamily="18" charset="0"/>
                <a:cs typeface="Times New Roman" panose="02020603050405020304" pitchFamily="18" charset="0"/>
              </a:rPr>
              <a:t>Backend:</a:t>
            </a:r>
          </a:p>
          <a:p>
            <a:pPr lvl="1"/>
            <a:r>
              <a:rPr lang="en-GB" sz="2000" dirty="0">
                <a:latin typeface="Times New Roman" panose="02020603050405020304" pitchFamily="18" charset="0"/>
                <a:cs typeface="Times New Roman" panose="02020603050405020304" pitchFamily="18" charset="0"/>
              </a:rPr>
              <a:t>Node.js: Technology to handle backend operations and creating API.</a:t>
            </a:r>
          </a:p>
          <a:p>
            <a:pPr lvl="1"/>
            <a:r>
              <a:rPr lang="en-GB" sz="2000" dirty="0">
                <a:latin typeface="Times New Roman" panose="02020603050405020304" pitchFamily="18" charset="0"/>
                <a:cs typeface="Times New Roman" panose="02020603050405020304" pitchFamily="18" charset="0"/>
              </a:rPr>
              <a:t>Express.js: Backend technology used for managing requests and routes.</a:t>
            </a:r>
          </a:p>
          <a:p>
            <a:pPr lvl="1"/>
            <a:endParaRPr lang="en-GB" sz="2000" dirty="0">
              <a:latin typeface="Times New Roman" panose="02020603050405020304" pitchFamily="18" charset="0"/>
              <a:cs typeface="Times New Roman" panose="02020603050405020304" pitchFamily="18" charset="0"/>
            </a:endParaRPr>
          </a:p>
          <a:p>
            <a:r>
              <a:rPr lang="en-GB" sz="2000" b="1" dirty="0">
                <a:latin typeface="Times New Roman" panose="02020603050405020304" pitchFamily="18" charset="0"/>
                <a:cs typeface="Times New Roman" panose="02020603050405020304" pitchFamily="18" charset="0"/>
              </a:rPr>
              <a:t>Database:</a:t>
            </a:r>
          </a:p>
          <a:p>
            <a:pPr lvl="1"/>
            <a:r>
              <a:rPr lang="en-GB" sz="2000" dirty="0">
                <a:latin typeface="Times New Roman" panose="02020603050405020304" pitchFamily="18" charset="0"/>
                <a:cs typeface="Times New Roman" panose="02020603050405020304" pitchFamily="18" charset="0"/>
              </a:rPr>
              <a:t>MongoDB: NoSQL Database to store user data.</a:t>
            </a:r>
          </a:p>
          <a:p>
            <a:pPr lvl="1"/>
            <a:r>
              <a:rPr lang="en-GB" sz="2000" dirty="0">
                <a:latin typeface="Times New Roman" panose="02020603050405020304" pitchFamily="18" charset="0"/>
                <a:cs typeface="Times New Roman" panose="02020603050405020304" pitchFamily="18" charset="0"/>
              </a:rPr>
              <a:t>Mongoose: It is used to simplify working with databases through data </a:t>
            </a:r>
            <a:r>
              <a:rPr lang="en-GB" sz="2000" dirty="0" err="1">
                <a:latin typeface="Times New Roman" panose="02020603050405020304" pitchFamily="18" charset="0"/>
                <a:cs typeface="Times New Roman" panose="02020603050405020304" pitchFamily="18" charset="0"/>
              </a:rPr>
              <a:t>modeling</a:t>
            </a:r>
            <a:r>
              <a:rPr lang="en-GB" sz="2000" dirty="0">
                <a:latin typeface="Times New Roman" panose="02020603050405020304" pitchFamily="18" charset="0"/>
                <a:cs typeface="Times New Roman" panose="02020603050405020304" pitchFamily="18" charset="0"/>
              </a:rPr>
              <a:t> and managing schemas.</a:t>
            </a:r>
          </a:p>
          <a:p>
            <a:pPr lvl="1"/>
            <a:r>
              <a:rPr lang="en-GB" sz="2000" dirty="0">
                <a:latin typeface="Times New Roman" panose="02020603050405020304" pitchFamily="18" charset="0"/>
                <a:cs typeface="Times New Roman" panose="02020603050405020304" pitchFamily="18" charset="0"/>
              </a:rPr>
              <a:t>Prisma: It is used to simplify database interactions via ORM with model definition, schema management, type-safe query, and migration facilities.</a:t>
            </a:r>
          </a:p>
          <a:p>
            <a:pPr lvl="1"/>
            <a:r>
              <a:rPr lang="en-GB" sz="2000" dirty="0">
                <a:latin typeface="Times New Roman" panose="02020603050405020304" pitchFamily="18" charset="0"/>
                <a:cs typeface="Times New Roman" panose="02020603050405020304" pitchFamily="18" charset="0"/>
              </a:rPr>
              <a:t>PostgreSQL : Open-source and robust relational database.</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580332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60D56-324B-435E-8CDD-E1D227EBBA0F}"/>
              </a:ext>
            </a:extLst>
          </p:cNvPr>
          <p:cNvSpPr>
            <a:spLocks noGrp="1"/>
          </p:cNvSpPr>
          <p:nvPr>
            <p:ph type="title"/>
          </p:nvPr>
        </p:nvSpPr>
        <p:spPr/>
        <p:txBody>
          <a:bodyPr/>
          <a:lstStyle/>
          <a:p>
            <a:r>
              <a:rPr lang="en-US" sz="3200" dirty="0">
                <a:latin typeface="Times New Roman" panose="02020603050405020304" pitchFamily="18" charset="0"/>
                <a:cs typeface="Times New Roman" panose="02020603050405020304" pitchFamily="18" charset="0"/>
              </a:rPr>
              <a:t>  Purpose of the Project</a:t>
            </a:r>
          </a:p>
        </p:txBody>
      </p:sp>
      <p:sp>
        <p:nvSpPr>
          <p:cNvPr id="3" name="Subtitle 2">
            <a:extLst>
              <a:ext uri="{FF2B5EF4-FFF2-40B4-BE49-F238E27FC236}">
                <a16:creationId xmlns:a16="http://schemas.microsoft.com/office/drawing/2014/main" id="{D5A8E6B1-59E2-443E-BFDB-3725A942B67B}"/>
              </a:ext>
            </a:extLst>
          </p:cNvPr>
          <p:cNvSpPr>
            <a:spLocks noGrp="1"/>
          </p:cNvSpPr>
          <p:nvPr>
            <p:ph type="subTitle"/>
          </p:nvPr>
        </p:nvSpPr>
        <p:spPr>
          <a:xfrm>
            <a:off x="84841" y="1140644"/>
            <a:ext cx="8601599" cy="3813142"/>
          </a:xfrm>
        </p:spPr>
        <p:txBody>
          <a:bodyPr/>
          <a:lstStyle/>
          <a:p>
            <a:pPr marL="457200" indent="-317500">
              <a:lnSpc>
                <a:spcPct val="200000"/>
              </a:lnSpc>
              <a:buClr>
                <a:srgbClr val="000000"/>
              </a:buClr>
              <a:buSzPts val="1400"/>
              <a:buChar char="●"/>
            </a:pPr>
            <a:r>
              <a:rPr lang="en-GB"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Create an efficient platform for instant communications.</a:t>
            </a:r>
          </a:p>
          <a:p>
            <a:pPr marL="457200" indent="-317500">
              <a:lnSpc>
                <a:spcPct val="200000"/>
              </a:lnSpc>
              <a:buClr>
                <a:srgbClr val="000000"/>
              </a:buClr>
              <a:buSzPts val="1400"/>
              <a:buChar char="●"/>
            </a:pPr>
            <a:r>
              <a:rPr lang="en-GB"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Make it possible for users to communicate using instant messages.</a:t>
            </a:r>
          </a:p>
          <a:p>
            <a:pPr marL="457200" indent="-317500">
              <a:lnSpc>
                <a:spcPct val="200000"/>
              </a:lnSpc>
              <a:buClr>
                <a:srgbClr val="000000"/>
              </a:buClr>
              <a:buSzPts val="1400"/>
              <a:buChar char="●"/>
            </a:pPr>
            <a:r>
              <a:rPr lang="en-GB"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Allow users to share multimedia files (pictures, documents, videos).</a:t>
            </a:r>
          </a:p>
          <a:p>
            <a:pPr marL="457200" indent="-317500">
              <a:lnSpc>
                <a:spcPct val="200000"/>
              </a:lnSpc>
              <a:buClr>
                <a:srgbClr val="000000"/>
              </a:buClr>
              <a:buSzPts val="1400"/>
              <a:buChar char="●"/>
            </a:pPr>
            <a:r>
              <a:rPr lang="en-US" alt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sym typeface="Arial" panose="020B0604020202020204" pitchFamily="34" charset="0"/>
              </a:rPr>
              <a:t>Ensure data privacy and security with encryption </a:t>
            </a:r>
            <a:r>
              <a:rPr lang="en-GB"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technology.</a:t>
            </a:r>
          </a:p>
          <a:p>
            <a:pPr marL="457200" indent="-317500">
              <a:lnSpc>
                <a:spcPct val="200000"/>
              </a:lnSpc>
              <a:buClr>
                <a:srgbClr val="000000"/>
              </a:buClr>
              <a:buSzPts val="1400"/>
              <a:buChar char="●"/>
            </a:pPr>
            <a:r>
              <a:rPr lang="en-GB"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Use a user-friendly design to make navigation easier.</a:t>
            </a:r>
          </a:p>
          <a:p>
            <a:pPr marL="457200" indent="-317500">
              <a:lnSpc>
                <a:spcPct val="200000"/>
              </a:lnSpc>
              <a:buClr>
                <a:srgbClr val="000000"/>
              </a:buClr>
              <a:buSzPts val="1400"/>
              <a:buChar char="●"/>
            </a:pPr>
            <a:r>
              <a:rPr lang="en-GB"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Provide reliable means of communication with minimum latency.</a:t>
            </a:r>
            <a:endPar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2283832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1F699CE-FF72-48BA-9E55-CA99A939C408}"/>
              </a:ext>
            </a:extLst>
          </p:cNvPr>
          <p:cNvPicPr>
            <a:picLocks noChangeAspect="1"/>
          </p:cNvPicPr>
          <p:nvPr/>
        </p:nvPicPr>
        <p:blipFill>
          <a:blip r:embed="rId2"/>
          <a:stretch>
            <a:fillRect/>
          </a:stretch>
        </p:blipFill>
        <p:spPr>
          <a:xfrm>
            <a:off x="471726" y="1402428"/>
            <a:ext cx="8200548" cy="4053144"/>
          </a:xfrm>
          <a:prstGeom prst="rect">
            <a:avLst/>
          </a:prstGeom>
        </p:spPr>
      </p:pic>
      <p:sp>
        <p:nvSpPr>
          <p:cNvPr id="4" name="Title 1">
            <a:extLst>
              <a:ext uri="{FF2B5EF4-FFF2-40B4-BE49-F238E27FC236}">
                <a16:creationId xmlns:a16="http://schemas.microsoft.com/office/drawing/2014/main" id="{D1423ACC-4370-A16A-4553-D434B9C35762}"/>
              </a:ext>
            </a:extLst>
          </p:cNvPr>
          <p:cNvSpPr>
            <a:spLocks noGrp="1"/>
          </p:cNvSpPr>
          <p:nvPr>
            <p:ph type="title"/>
          </p:nvPr>
        </p:nvSpPr>
        <p:spPr>
          <a:xfrm>
            <a:off x="0" y="0"/>
            <a:ext cx="5486400" cy="914400"/>
          </a:xfrm>
        </p:spPr>
        <p:txBody>
          <a:bodyPr/>
          <a:lstStyle/>
          <a:p>
            <a:r>
              <a:rPr lang="en-US" sz="3200" dirty="0">
                <a:latin typeface="Times New Roman" panose="02020603050405020304" pitchFamily="18" charset="0"/>
                <a:cs typeface="Times New Roman" panose="02020603050405020304" pitchFamily="18" charset="0"/>
              </a:rPr>
              <a:t>  Screenshots</a:t>
            </a:r>
          </a:p>
        </p:txBody>
      </p:sp>
    </p:spTree>
    <p:extLst>
      <p:ext uri="{BB962C8B-B14F-4D97-AF65-F5344CB8AC3E}">
        <p14:creationId xmlns:p14="http://schemas.microsoft.com/office/powerpoint/2010/main" val="23037972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C6F5DBB-7D40-4069-93CE-23B972E54928}"/>
              </a:ext>
            </a:extLst>
          </p:cNvPr>
          <p:cNvPicPr>
            <a:picLocks noChangeAspect="1"/>
          </p:cNvPicPr>
          <p:nvPr/>
        </p:nvPicPr>
        <p:blipFill>
          <a:blip r:embed="rId2"/>
          <a:stretch>
            <a:fillRect/>
          </a:stretch>
        </p:blipFill>
        <p:spPr>
          <a:xfrm>
            <a:off x="518547" y="1190312"/>
            <a:ext cx="8106906" cy="4477375"/>
          </a:xfrm>
          <a:prstGeom prst="rect">
            <a:avLst/>
          </a:prstGeom>
        </p:spPr>
      </p:pic>
    </p:spTree>
    <p:extLst>
      <p:ext uri="{BB962C8B-B14F-4D97-AF65-F5344CB8AC3E}">
        <p14:creationId xmlns:p14="http://schemas.microsoft.com/office/powerpoint/2010/main" val="10956160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96054AE-A80E-4527-AC28-127C187F7151}"/>
              </a:ext>
            </a:extLst>
          </p:cNvPr>
          <p:cNvPicPr>
            <a:picLocks noChangeAspect="1"/>
          </p:cNvPicPr>
          <p:nvPr/>
        </p:nvPicPr>
        <p:blipFill>
          <a:blip r:embed="rId2"/>
          <a:stretch>
            <a:fillRect/>
          </a:stretch>
        </p:blipFill>
        <p:spPr>
          <a:xfrm>
            <a:off x="666563" y="1526095"/>
            <a:ext cx="7810874" cy="3805809"/>
          </a:xfrm>
          <a:prstGeom prst="rect">
            <a:avLst/>
          </a:prstGeom>
        </p:spPr>
      </p:pic>
    </p:spTree>
    <p:extLst>
      <p:ext uri="{BB962C8B-B14F-4D97-AF65-F5344CB8AC3E}">
        <p14:creationId xmlns:p14="http://schemas.microsoft.com/office/powerpoint/2010/main" val="19508769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0ABDE0B-07D6-47CC-B321-7FDAF575EEA8}"/>
              </a:ext>
            </a:extLst>
          </p:cNvPr>
          <p:cNvPicPr>
            <a:picLocks noChangeAspect="1"/>
          </p:cNvPicPr>
          <p:nvPr/>
        </p:nvPicPr>
        <p:blipFill>
          <a:blip r:embed="rId2"/>
          <a:stretch>
            <a:fillRect/>
          </a:stretch>
        </p:blipFill>
        <p:spPr>
          <a:xfrm>
            <a:off x="709491" y="1608173"/>
            <a:ext cx="7725018" cy="3641654"/>
          </a:xfrm>
          <a:prstGeom prst="rect">
            <a:avLst/>
          </a:prstGeom>
        </p:spPr>
      </p:pic>
    </p:spTree>
    <p:extLst>
      <p:ext uri="{BB962C8B-B14F-4D97-AF65-F5344CB8AC3E}">
        <p14:creationId xmlns:p14="http://schemas.microsoft.com/office/powerpoint/2010/main" val="3471137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2E00A4-5341-473B-9472-D62EE8CAC2ED}"/>
              </a:ext>
            </a:extLst>
          </p:cNvPr>
          <p:cNvSpPr>
            <a:spLocks noGrp="1"/>
          </p:cNvSpPr>
          <p:nvPr>
            <p:ph type="title"/>
          </p:nvPr>
        </p:nvSpPr>
        <p:spPr>
          <a:xfrm>
            <a:off x="0" y="79708"/>
            <a:ext cx="5486040" cy="763211"/>
          </a:xfrm>
        </p:spPr>
        <p:txBody>
          <a:bodyPr/>
          <a:lstStyle/>
          <a:p>
            <a:r>
              <a:rPr lang="en-US" altLang="en-US" sz="3200" dirty="0">
                <a:latin typeface="Times New Roman" panose="02020603050405020304" pitchFamily="18" charset="0"/>
                <a:ea typeface="Times Roman"/>
                <a:cs typeface="Times New Roman" panose="02020603050405020304" pitchFamily="18" charset="0"/>
                <a:sym typeface="Times Roman"/>
              </a:rPr>
              <a:t>  Future Improvements</a:t>
            </a:r>
            <a:endParaRPr lang="en-US" sz="32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36EDBF50-6E4C-4BE2-88D0-0B36CDC86C10}"/>
              </a:ext>
            </a:extLst>
          </p:cNvPr>
          <p:cNvSpPr>
            <a:spLocks noGrp="1"/>
          </p:cNvSpPr>
          <p:nvPr>
            <p:ph type="subTitle"/>
          </p:nvPr>
        </p:nvSpPr>
        <p:spPr>
          <a:xfrm>
            <a:off x="207390" y="1150070"/>
            <a:ext cx="8479050" cy="4431730"/>
          </a:xfrm>
        </p:spPr>
        <p:txBody>
          <a:bodyPr/>
          <a:lstStyle/>
          <a:p>
            <a:pPr marL="457200" indent="-317500">
              <a:lnSpc>
                <a:spcPct val="100000"/>
              </a:lnSpc>
              <a:buClr>
                <a:srgbClr val="000000"/>
              </a:buClr>
              <a:buSzPts val="1400"/>
              <a:buChar char="●"/>
            </a:pPr>
            <a:r>
              <a:rPr lang="en-GB"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Voice &amp; Video Calling: Incorporate live voice and video calling functionalities.</a:t>
            </a:r>
          </a:p>
          <a:p>
            <a:pPr marL="457200" indent="-317500">
              <a:lnSpc>
                <a:spcPct val="100000"/>
              </a:lnSpc>
              <a:buClr>
                <a:srgbClr val="000000"/>
              </a:buClr>
              <a:buSzPts val="1400"/>
              <a:buChar char="●"/>
            </a:pPr>
            <a:r>
              <a:rPr lang="en-GB"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End-to-End Encryption: Upgrade messaging security by integrating end-to-end encryption.</a:t>
            </a:r>
          </a:p>
          <a:p>
            <a:pPr marL="457200" indent="-317500">
              <a:lnSpc>
                <a:spcPct val="100000"/>
              </a:lnSpc>
              <a:buClr>
                <a:srgbClr val="000000"/>
              </a:buClr>
              <a:buSzPts val="1400"/>
              <a:buChar char="●"/>
            </a:pPr>
            <a:r>
              <a:rPr lang="en-GB"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Group Chat Management: Introduce additional group chat functionalities such as roles and administrators.</a:t>
            </a:r>
          </a:p>
          <a:p>
            <a:pPr marL="457200" indent="-317500">
              <a:lnSpc>
                <a:spcPct val="100000"/>
              </a:lnSpc>
              <a:buClr>
                <a:srgbClr val="000000"/>
              </a:buClr>
              <a:buSzPts val="1400"/>
              <a:buChar char="●"/>
            </a:pPr>
            <a:r>
              <a:rPr lang="en-GB"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Chatbots: Implement AI-enabled chatbots for automated support.</a:t>
            </a:r>
          </a:p>
          <a:p>
            <a:pPr marL="457200" indent="-317500">
              <a:lnSpc>
                <a:spcPct val="100000"/>
              </a:lnSpc>
              <a:buClr>
                <a:srgbClr val="000000"/>
              </a:buClr>
              <a:buSzPts val="1400"/>
              <a:buChar char="●"/>
            </a:pPr>
            <a:r>
              <a:rPr lang="en-GB"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Cross-Platform Integration: Ensure cross-platform availability on both desktop and mobile devices (iOS and Android).</a:t>
            </a:r>
          </a:p>
          <a:p>
            <a:pPr marL="457200" indent="-317500">
              <a:lnSpc>
                <a:spcPct val="100000"/>
              </a:lnSpc>
              <a:buClr>
                <a:srgbClr val="000000"/>
              </a:buClr>
              <a:buSzPts val="1400"/>
              <a:buChar char="●"/>
            </a:pPr>
            <a:r>
              <a:rPr lang="en-GB"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Message Search &amp; Filtering: Upgrade the messaging search engine and include filtering options.</a:t>
            </a:r>
          </a:p>
          <a:p>
            <a:pPr marL="457200" indent="-317500">
              <a:lnSpc>
                <a:spcPct val="100000"/>
              </a:lnSpc>
              <a:buClr>
                <a:srgbClr val="000000"/>
              </a:buClr>
              <a:buSzPts val="1400"/>
              <a:buChar char="●"/>
            </a:pPr>
            <a:r>
              <a:rPr lang="en-GB"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Presence Status Indicators: Include presence status indicators for users.</a:t>
            </a:r>
          </a:p>
          <a:p>
            <a:pPr marL="457200" indent="-317500">
              <a:lnSpc>
                <a:spcPct val="100000"/>
              </a:lnSpc>
              <a:buClr>
                <a:srgbClr val="000000"/>
              </a:buClr>
              <a:buSzPts val="1400"/>
              <a:buChar char="●"/>
            </a:pPr>
            <a:r>
              <a:rPr lang="en-GB"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Themes &amp; Customization: Introduce theme and customization settings.</a:t>
            </a:r>
            <a:endPar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872859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9559FF-FF25-4D3B-9ACC-ADE28C972EC5}"/>
              </a:ext>
            </a:extLst>
          </p:cNvPr>
          <p:cNvSpPr>
            <a:spLocks noGrp="1"/>
          </p:cNvSpPr>
          <p:nvPr>
            <p:ph type="title"/>
          </p:nvPr>
        </p:nvSpPr>
        <p:spPr/>
        <p:txBody>
          <a:bodyPr/>
          <a:lstStyle/>
          <a:p>
            <a:r>
              <a:rPr lang="en-US" sz="3200" dirty="0">
                <a:latin typeface="Times New Roman" panose="02020603050405020304" pitchFamily="18" charset="0"/>
                <a:cs typeface="Times New Roman" panose="02020603050405020304" pitchFamily="18" charset="0"/>
              </a:rPr>
              <a:t>  Conclusion</a:t>
            </a:r>
          </a:p>
        </p:txBody>
      </p:sp>
      <p:sp>
        <p:nvSpPr>
          <p:cNvPr id="3" name="Subtitle 2">
            <a:extLst>
              <a:ext uri="{FF2B5EF4-FFF2-40B4-BE49-F238E27FC236}">
                <a16:creationId xmlns:a16="http://schemas.microsoft.com/office/drawing/2014/main" id="{CFAAD7BD-8A12-443A-BB98-E456A223AA1C}"/>
              </a:ext>
            </a:extLst>
          </p:cNvPr>
          <p:cNvSpPr>
            <a:spLocks noGrp="1"/>
          </p:cNvSpPr>
          <p:nvPr>
            <p:ph type="subTitle"/>
          </p:nvPr>
        </p:nvSpPr>
        <p:spPr>
          <a:xfrm>
            <a:off x="339365" y="1137920"/>
            <a:ext cx="8296635" cy="5334000"/>
          </a:xfrm>
        </p:spPr>
        <p:txBody>
          <a:bodyPr/>
          <a:lstStyle/>
          <a:p>
            <a:pPr marL="0" indent="0" algn="just">
              <a:lnSpc>
                <a:spcPct val="150000"/>
              </a:lnSpc>
              <a:buNone/>
            </a:pPr>
            <a:r>
              <a:rPr lang="en-GB" sz="2000" dirty="0">
                <a:latin typeface="Times New Roman" panose="02020603050405020304" pitchFamily="18" charset="0"/>
                <a:cs typeface="Times New Roman" panose="02020603050405020304" pitchFamily="18" charset="0"/>
              </a:rPr>
              <a:t>The aim of creating the chat application project is to deliver a highly safe, reliable, and user-friendly application used for instant communication purposes. As far as performance and user-friendliness are concerned, the application project can be considered successful as it allows users to communicate in real time. It provides an opportunity to chat using text, share videos and photos, and interact with other people online. Thanks to the application's advanced security system, users enjoy complete privacy and confidence while using this software. At the same time, there is great potential for development in the future. There is a possibility to include additional functionality like making calls (voice and video), using AI chatbots, and better managing groups. All these future developments will contribute greatly to enhancing the application.</a:t>
            </a:r>
            <a:endParaRPr lang="en-US" sz="2000" dirty="0">
              <a:latin typeface="Times New Roman" panose="02020603050405020304" pitchFamily="18" charset="0"/>
              <a:cs typeface="Times New Roman" panose="02020603050405020304" pitchFamily="18" charset="0"/>
            </a:endParaRPr>
          </a:p>
          <a:p>
            <a:pPr>
              <a:lnSpc>
                <a:spcPct val="150000"/>
              </a:lnSpc>
            </a:pPr>
            <a:endParaRPr lang="en-US" sz="2000" dirty="0"/>
          </a:p>
        </p:txBody>
      </p:sp>
    </p:spTree>
    <p:extLst>
      <p:ext uri="{BB962C8B-B14F-4D97-AF65-F5344CB8AC3E}">
        <p14:creationId xmlns:p14="http://schemas.microsoft.com/office/powerpoint/2010/main" val="27898694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297577" y="2821578"/>
            <a:ext cx="6705599" cy="1410788"/>
          </a:xfrm>
          <a:prstGeom prst="rect">
            <a:avLst/>
          </a:prstGeom>
          <a:noFill/>
          <a:ln w="9360">
            <a:noFill/>
          </a:ln>
        </p:spPr>
        <p:txBody>
          <a:bodyPr anchor="ctr">
            <a:noAutofit/>
          </a:bodyPr>
          <a:lstStyle/>
          <a:p>
            <a:pPr algn="ctr">
              <a:lnSpc>
                <a:spcPct val="100000"/>
              </a:lnSpc>
            </a:pPr>
            <a:r>
              <a:rPr lang="en" sz="5400" dirty="0">
                <a:latin typeface="Times New Roman" panose="02020603050405020304" pitchFamily="18" charset="0"/>
                <a:cs typeface="Times New Roman" panose="02020603050405020304" pitchFamily="18" charset="0"/>
              </a:rPr>
              <a:t>Thank You</a:t>
            </a:r>
            <a:endParaRPr lang="en-US" sz="5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12</a:t>
            </a:fld>
            <a:endParaRPr lang="en-GB" sz="1200" b="0" strike="noStrike" spc="-1">
              <a:latin typeface="Times New Roman"/>
            </a:endParaRPr>
          </a:p>
        </p:txBody>
      </p:sp>
    </p:spTree>
    <p:extLst>
      <p:ext uri="{BB962C8B-B14F-4D97-AF65-F5344CB8AC3E}">
        <p14:creationId xmlns:p14="http://schemas.microsoft.com/office/powerpoint/2010/main" val="28344798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96F1BF43DDE004485E7A868D137D60A" ma:contentTypeVersion="0" ma:contentTypeDescription="Create a new document." ma:contentTypeScope="" ma:versionID="47fff7f98a9c49c088ba096c14cf4458">
  <xsd:schema xmlns:xsd="http://www.w3.org/2001/XMLSchema" xmlns:xs="http://www.w3.org/2001/XMLSchema" xmlns:p="http://schemas.microsoft.com/office/2006/metadata/properties" targetNamespace="http://schemas.microsoft.com/office/2006/metadata/properties" ma:root="true" ma:fieldsID="c05e9f2c4932a6a674126b9dde7716e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A62A602-78C1-468C-BB25-57CD481DB741}">
  <ds:schemaRefs>
    <ds:schemaRef ds:uri="http://purl.org/dc/terms/"/>
    <ds:schemaRef ds:uri="http://www.w3.org/XML/1998/namespace"/>
    <ds:schemaRef ds:uri="http://purl.org/dc/dcmitype/"/>
    <ds:schemaRef ds:uri="http://schemas.microsoft.com/office/2006/documentManagement/types"/>
    <ds:schemaRef ds:uri="http://schemas.microsoft.com/office/2006/metadata/properties"/>
    <ds:schemaRef ds:uri="http://purl.org/dc/elements/1.1/"/>
    <ds:schemaRef ds:uri="http://schemas.microsoft.com/office/infopath/2007/PartnerControls"/>
    <ds:schemaRef ds:uri="http://schemas.openxmlformats.org/package/2006/metadata/core-properties"/>
  </ds:schemaRefs>
</ds:datastoreItem>
</file>

<file path=customXml/itemProps2.xml><?xml version="1.0" encoding="utf-8"?>
<ds:datastoreItem xmlns:ds="http://schemas.openxmlformats.org/officeDocument/2006/customXml" ds:itemID="{737ED6F0-5E4C-4CD0-9B68-9C53F925A6F7}">
  <ds:schemaRefs>
    <ds:schemaRef ds:uri="http://schemas.microsoft.com/sharepoint/v3/contenttype/forms"/>
  </ds:schemaRefs>
</ds:datastoreItem>
</file>

<file path=customXml/itemProps3.xml><?xml version="1.0" encoding="utf-8"?>
<ds:datastoreItem xmlns:ds="http://schemas.openxmlformats.org/officeDocument/2006/customXml" ds:itemID="{491DF113-39A2-46D5-BFDA-E63300A9EC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34766</TotalTime>
  <Words>640</Words>
  <Application>Microsoft Office PowerPoint</Application>
  <PresentationFormat>On-screen Show (4:3)</PresentationFormat>
  <Paragraphs>65</Paragraphs>
  <Slides>12</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Times New Roman</vt:lpstr>
      <vt:lpstr>Office Theme</vt:lpstr>
      <vt:lpstr>PowerPoint Presentation</vt:lpstr>
      <vt:lpstr>PowerPoint Presentation</vt:lpstr>
      <vt:lpstr>  Problem Statement</vt:lpstr>
      <vt:lpstr>  Technologies Used</vt:lpstr>
      <vt:lpstr>  Purpose of the Project</vt:lpstr>
      <vt:lpstr>  Screenshots</vt:lpstr>
      <vt:lpstr>PowerPoint Presentation</vt:lpstr>
      <vt:lpstr>PowerPoint Presentation</vt:lpstr>
      <vt:lpstr>PowerPoint Presentation</vt:lpstr>
      <vt:lpstr>  Future Improvements</vt:lpstr>
      <vt:lpstr>  Conclusion</vt:lpstr>
      <vt:lpstr>PowerPoint Presentation</vt:lpstr>
    </vt:vector>
  </TitlesOfParts>
  <Company>CCC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rishabhdev2004@gmail.com</cp:lastModifiedBy>
  <cp:revision>2307</cp:revision>
  <dcterms:created xsi:type="dcterms:W3CDTF">2010-04-09T07:36:15Z</dcterms:created>
  <dcterms:modified xsi:type="dcterms:W3CDTF">2026-05-07T09:06:44Z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